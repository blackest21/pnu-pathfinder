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단일 Opus 사용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RAG Q&amp;A</c:v>
                  </c:pt>
                  <c:pt idx="1">
                    <c:v>What-If</c:v>
                  </c:pt>
                  <c:pt idx="2">
                    <c:v>이력서</c:v>
                  </c:pt>
                  <c:pt idx="3">
                    <c:v>Crawl 정제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90</c:v>
                </c:pt>
                <c:pt idx="2">
                  <c:v>60</c:v>
                </c:pt>
                <c:pt idx="3">
                  <c:v>200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모델 차등 (Ours)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RAG Q&amp;A</c:v>
                  </c:pt>
                  <c:pt idx="1">
                    <c:v>What-If</c:v>
                  </c:pt>
                  <c:pt idx="2">
                    <c:v>이력서</c:v>
                  </c:pt>
                  <c:pt idx="3">
                    <c:v>Crawl 정제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28</c:v>
                </c:pt>
                <c:pt idx="2">
                  <c:v>18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Pretendard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Pretendard"/>
                  </a:rPr>
                  <a:t>월 비용 (USD)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제7회 PNU 창의융합AI해커톤  ·  융합트랙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6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AI를 어떻게 썼는가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· What-If · 이력서 빌더를 7개 Claude 에이전트로 협업 개발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8096" y="5175504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5120640"/>
            <a:ext cx="475488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120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팀명</a:t>
            </a:r>
            <a:endParaRPr lang="en-US" sz="11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&lt;팀 이름 입력&gt;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97296" y="5175504"/>
            <a:ext cx="5669280" cy="1005840"/>
          </a:xfrm>
          <a:prstGeom prst="roundRect">
            <a:avLst>
              <a:gd name="adj" fmla="val 10909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5120640"/>
            <a:ext cx="5669280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52120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&lt;팀원 1&gt; · &lt;팀원 2&gt; · &lt;팀원 3&gt; · &lt;팀원 4&gt;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07040" y="365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15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문제정의 — 학사정보가 흩어져 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 학생이 졸업·진로를 추적하기 위해 매주 마주치는 3가지 벽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609344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3657600" cy="274320"/>
          </a:xfrm>
          <a:prstGeom prst="roundRect">
            <a:avLst>
              <a:gd name="adj" fmla="val 4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15+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공식 사이트·공지 채널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학과·교무·취업·도서관 등 분산. 검색 한 번으로는 답이 안 나옴.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609344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55448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554480"/>
            <a:ext cx="3657600" cy="27432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2057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40%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4599432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외국인·교환학생 비중↑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4160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행정 용어가 장벽. 졸업요건 해석부터 막힘.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83880" y="1609344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1554480"/>
            <a:ext cx="3657600" cy="4297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7304" y="1554480"/>
            <a:ext cx="3657600" cy="274320"/>
          </a:xfrm>
          <a:prstGeom prst="roundRect">
            <a:avLst>
              <a:gd name="adj" fmla="val 4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1624" y="20574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8421624" y="3611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개인화된 진로 도구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21624" y="41605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성적·이수내역을 반영한 What-If 시뮬레이션 부재.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흩어진 정보를 한 번에 묻고, 내 데이터로 미래를 시뮬레이션하고 싶다.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 — 한 줄로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 학생을 위한 RAG 기반 학사·진로 어시스턴트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11155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챗봇 </a:t>
            </a:r>
            <a:pPr algn="l" indent="0" marL="0">
              <a:buNone/>
            </a:pPr>
            <a:r>
              <a:rPr lang="en-US" sz="4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</a:t>
            </a:r>
            <a:pPr algn="l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What-If 시뮬레이션 </a:t>
            </a:r>
            <a:pPr algn="l" indent="0" marL="0">
              <a:buNone/>
            </a:pPr>
            <a:r>
              <a:rPr lang="en-US" sz="44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</a:t>
            </a:r>
            <a:pPr algn="l" indent="0" marL="0">
              <a:buNone/>
            </a:pPr>
            <a:r>
              <a:rPr lang="en-US" sz="44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이력서 자동 생성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39496" y="4169664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1148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438912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389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Q&amp;A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4389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챗봇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029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학사 공지·졸업요건을 자연어로 질의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61688" y="4169664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41148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9432" y="438912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4389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13832" y="4389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What-If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9432" y="5029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성적·이수에서 진로 시나리오 비교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83880" y="4169664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7304" y="41148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21624" y="4389120"/>
            <a:ext cx="777240" cy="502920"/>
          </a:xfrm>
          <a:prstGeom prst="roundRect">
            <a:avLst>
              <a:gd name="adj" fmla="val 14545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1624" y="43891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36024" y="4389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이력서 빌더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21624" y="50292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기록 → 한국어 자기소개서 한 번에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아키텍처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7개 레이어 · React + Spring + FastAPI + Postgres/pgvector + Crawler + Railway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563624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3657600" cy="493776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레이어 구성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 (React)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2918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291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 (Spring)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86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서비스 (FastAPI)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480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44805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(Postgres·pgvector·Redis)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50749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5074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Crawler (APScheduler)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66928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669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5669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Deploy (Railway/Vercel)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79976" y="1472184"/>
            <a:ext cx="7360920" cy="5074920"/>
          </a:xfrm>
          <a:prstGeom prst="roundRect">
            <a:avLst>
              <a:gd name="adj" fmla="val 2162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43400" y="1417320"/>
            <a:ext cx="736092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0" name="Image 0" descr="/tmp/ar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554480"/>
            <a:ext cx="6903720" cy="480060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15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 철학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사람=검수자, AI=생산자. 4원칙으로 AI를 다룹니다.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609344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11155680" cy="118872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사람은 의사결정과 검수만 한다. </a:t>
            </a:r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코드·문서·테스트를 생산한다.</a:t>
            </a:r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"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39496" y="3072384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301752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분업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4709160"/>
            <a:ext cx="64008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8920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7개 에이전트가 각자 worktree에서 병렬 작업. 머지 충돌 0건.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28416" y="3072384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301752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20440" y="4023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MCP는 손발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520440" y="4709160"/>
            <a:ext cx="6400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48920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DB·실제 UI·실제 문서를 보게 해서 환각을 차단.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17336" y="3072384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301752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309360" y="4023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Skill은 도메인 지식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309360" y="4709160"/>
            <a:ext cx="640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48920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· security-review · simplify를 모든 PR에 적용.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06256" y="3072384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0" y="3017520"/>
            <a:ext cx="2697480" cy="329184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32461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098280" y="4023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차등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098280" y="4709160"/>
            <a:ext cx="64008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489204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Opus/Sonnet/Haiku/GPT-4o-mini를 작업 난이도에 맞춰 사용.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런타임 AI ① — RAG Q&amp;A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질문 → 임베딩 → pgvector 검색 → LLM 답변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9740" y="1746504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3164" y="1691640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164" y="1691640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0324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0324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학생 질문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0324" y="2788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"졸업학점 몇 개 남았어?"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85136" y="2560320"/>
            <a:ext cx="164592" cy="274320"/>
          </a:xfrm>
          <a:prstGeom prst="righ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1732" y="1746504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45156" y="1691640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5156" y="1691640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82316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82316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임베딩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982316" y="2788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text-embedding-3-small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OK · 매우 저렴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07128" y="2560320"/>
            <a:ext cx="164592" cy="274320"/>
          </a:xfrm>
          <a:prstGeom prst="righ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03724" y="1746504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67148" y="1691640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7148" y="1691640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04308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4308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pgvector 검색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204308" y="2788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top-k 유사 문서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공지 · 졸업요건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29120" y="2560320"/>
            <a:ext cx="164592" cy="274320"/>
          </a:xfrm>
          <a:prstGeom prst="righ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5716" y="1746504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89140" y="1691640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89140" y="1691640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26300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26300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응답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426300" y="2788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GPT-4o-mini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빈도↑ · 비용↓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51112" y="2560320"/>
            <a:ext cx="164592" cy="274320"/>
          </a:xfrm>
          <a:prstGeom prst="righ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47708" y="1746504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11132" y="1691640"/>
            <a:ext cx="2057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11132" y="1691640"/>
            <a:ext cx="2057400" cy="274320"/>
          </a:xfrm>
          <a:prstGeom prst="roundRect">
            <a:avLst>
              <a:gd name="adj" fmla="val 4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48292" y="20574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648292" y="2331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답변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648292" y="27889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출처 + 인용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9496" y="4078224"/>
            <a:ext cx="11155680" cy="2331720"/>
          </a:xfrm>
          <a:prstGeom prst="roundRect">
            <a:avLst>
              <a:gd name="adj" fmla="val 4706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023360"/>
            <a:ext cx="111556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160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선택 근거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572000"/>
          <a:ext cx="10789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411480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구성요소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Embedder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OpenAI text-embedding-3-small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한국어 품질 충분 · 1M 토큰당 매우 저렴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multilingual-e5-large (자가호스팅 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GPT-4o-mini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 일반 Q&amp;A 빈도 매우 높음 → 비용 우선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Haiku 4.5 (장문 요약 시)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Reranker (선택)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B6D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 rerank-multilingual-v3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정확도 boost · 한국어 지원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미적용 (비용·지연 트레이드오프)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2" name="Text 39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15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런타임 AI ② — What-If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→ Claude Sonnet 4.5의 다단계 추론 → 학기 계획 + 추천 강의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563624"/>
            <a:ext cx="3200400" cy="4846320"/>
          </a:xfrm>
          <a:prstGeom prst="roundRect">
            <a:avLst>
              <a:gd name="adj" fmla="val 3429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3200400" cy="484632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194560"/>
            <a:ext cx="73152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성적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GPA · 이수 과목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15468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108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졸업요건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474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전공·교양 학점 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114800"/>
            <a:ext cx="73152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69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이력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인턴 · 자격증 · 어학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074920"/>
            <a:ext cx="73152" cy="777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5394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취업 / 대학원 / 교환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68496" y="2615184"/>
            <a:ext cx="4297680" cy="2743200"/>
          </a:xfrm>
          <a:prstGeom prst="roundRect">
            <a:avLst>
              <a:gd name="adj" fmla="val 4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2560320"/>
            <a:ext cx="4297680" cy="27432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2743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Sonnet 4.5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69080" y="3200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What-If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9080" y="3703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다단계 추론 · 계획 수립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06240" y="4160520"/>
            <a:ext cx="374904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9080" y="4297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백업: GPT-4o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69080" y="4663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Redis 캐시로 동일 시나리오 재호출 차단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94776" y="1563624"/>
            <a:ext cx="3246120" cy="4846320"/>
          </a:xfrm>
          <a:prstGeom prst="roundRect">
            <a:avLst>
              <a:gd name="adj" fmla="val 338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58200" y="1508760"/>
            <a:ext cx="3246120" cy="48463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4108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641080" y="219456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23960" y="21488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학기별 계획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23960" y="251460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6학기 단위 로드맵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641080" y="315468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23960" y="31089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추천 강의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23960" y="347472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졸업요건 충족 + 관심 분야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641080" y="411480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23960" y="40690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경고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823960" y="4434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졸업 지연 가능성 알림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641080" y="507492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5029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대안 시나리오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823960" y="53949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복수전공 vs 부전공 비교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703320" y="3749040"/>
            <a:ext cx="201168" cy="365760"/>
          </a:xfrm>
          <a:prstGeom prst="righ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3749040"/>
            <a:ext cx="201168" cy="365760"/>
          </a:xfrm>
          <a:prstGeom prst="righ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Sonnet 4.5 선택 이유 — 다단계 추론·계획 수립 능력이 GPT-4o-mini 대비 우월. 학기 계획처럼 의존성 많은 plan 작업에 안정적.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런타임 AI ③ — 이력서 · 활동추천 · Crawler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용도별로 다른 모델 — 작업 난이도와 호출 빈도가 다르다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609344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이력서 빌더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Sonnet 4.5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이유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자기소개서의 자연스러움이 결정적. 일관된 톤·근거 인용 우수.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5349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기록 → 직무 키워드 매칭 → 한국어 본문 생성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61688" y="1609344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5112" y="155448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155448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추천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99432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9432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Embedding + GPT-4o-mini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99432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이유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9432" y="35204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메인은 임베딩 유사도. LLM은 "추천 이유 1줄"만 생성 → 비용 최소.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99432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9432" y="5349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관심사 임베딩 → top-k 활동 → 추천 사유 1줄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83880" y="1609344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47304" y="155448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47304" y="1554480"/>
            <a:ext cx="3657600" cy="502920"/>
          </a:xfrm>
          <a:prstGeom prst="roundRect">
            <a:avLst>
              <a:gd name="adj" fmla="val 2181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75904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Crawler 정제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21624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21624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Haiku 4.5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21624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이유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21624" y="35204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대량(매시간 N백건) · 단순 구조화 작업. 빠르고 저렴한 Haiku가 정답.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21624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21624" y="5349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HTML → 핵심 필드 추출 → JSON 구조화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레이어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용도별로 분리된 3개 저장소. 비용·지연·일관성을 모두 잡는다.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609344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· 성적 · 교과과정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 · QueryDSL과 자연스럽게 연결되는 OLTP 표준. Railway 무료 플랜 활용.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포인트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트랜잭션·관계형 강건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학사 데이터 정합성 우선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 1-click 백업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61688" y="1609344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155448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5544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pgvector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53712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임베딩 인덱스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99432" y="26517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 안에서 벡터 검색 → 별도 벡터DB 인프라 불필요. 운영 단순.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99432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포인트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9432" y="457200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DB로 운영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IVFFlat / HNSW 인덱스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관계+벡터 동시 쿼리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83880" y="1609344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47304" y="155448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47304" y="15544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75904" y="16916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Upstash Redis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75904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What-If 응답 · 캐시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21624" y="26517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Serverless · per-request 과금. 트래픽 없을 때 0원. 데모에 최적.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21624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포인트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21624" y="457200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What-If 동일 시나리오 캐싱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레이트리밋·세션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 엣지와 궁합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단계 AI — 7개 Claude 에이전트 협업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Orchestrator(Opus)가 작업을 분배 → 6개 서브에이전트가 worktree에서 병렬 실행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94176" y="1517904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146304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Orchestrator (PM)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Opus 4.6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분배 · PR 리뷰 · 충돌 조정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80760" y="2743200"/>
            <a:ext cx="0" cy="50292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3246120"/>
            <a:ext cx="9326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63828" y="3246120"/>
            <a:ext cx="0" cy="1371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004" y="3438144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428" y="3383280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428" y="33832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0868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86588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Sonnet 4.6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6588" y="4343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86588" y="4572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· puppeteer · 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6588" y="5394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6588" y="5623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simplify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56636" y="3246120"/>
            <a:ext cx="0" cy="1371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8812" y="3438144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2236" y="3383280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2236" y="33832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33676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79396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Sonnet 4.6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79396" y="4343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479396" y="4572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· postgres · gh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79396" y="5394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479396" y="5623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claude-api · simplify · sec-review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49444" y="3246120"/>
            <a:ext cx="0" cy="1371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71620" y="3438144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35044" y="3383280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35044" y="33832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26484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/ AI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372204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Sonnet 4.6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372204" y="4343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72204" y="4572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· postgres(pgvector) · fetch · gh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372204" y="5394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372204" y="5623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42252" y="3246120"/>
            <a:ext cx="0" cy="1371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64428" y="3438144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7852" y="3383280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27852" y="33832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9292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Crawler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265012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Sonnet 4.6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65012" y="4343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65012" y="4572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· puppeteer · fetch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65012" y="5394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65012" y="5623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935060" y="3246120"/>
            <a:ext cx="0" cy="1371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57236" y="3438144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020660" y="3383280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20660" y="33832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1210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DevOps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8157820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Sonnet 4.6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157820" y="4343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157820" y="4572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· github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57820" y="5394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157820" y="5623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827868" y="3246120"/>
            <a:ext cx="0" cy="1371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950044" y="3438144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913468" y="3383280"/>
            <a:ext cx="18288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13468" y="3383280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04908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 / Reviewer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10050628" y="3886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Haiku 4.5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0050628" y="4343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0050628" y="45720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fs · github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050628" y="5394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Skill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0050628" y="56235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sec-review · simplify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15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에이전트별 담당 컴포넌트 매핑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 무엇을 어떤 모델·MCP·Skill로 만들었는지 한눈에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2014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371600"/>
                <a:gridCol w="3108960"/>
                <a:gridCol w="16916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컴포넌트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담당 에이전트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MCP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Skill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React 채팅·What-If UI·이력서 빌더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Frontend Agent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Sonnet 4.6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filesystem · puppeteer · github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simplify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Spring Auth · 학사 · Admin API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Spring Agent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Sonnet 4.6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filesystem · postgres · github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claude-api · simplify · security-review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LangChain RAG · What-If 엔진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FastAPI Agent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Sonnet 4.6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filesystem · postgres(pgvector) · fetch · github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채용·자격증·어학 크롤러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Crawler Agent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Sonnet 4.6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filesystem · puppeteer · fetch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Railway · Vercel · Upstash 배포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DevOps Agent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Sonnet 4.6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filesystem · github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PR 자동 리뷰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/ Reviewer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Haiku 4.5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filesystem · github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security-review · simplify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전체 작업 분배 · 통합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Orchestrator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Opus 4.6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filesystem · github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review · security-review · init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03504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작성자(Sonnet) ≠ 리뷰어(Haiku) → 자기편향 제거. Orchestrator(Opus)는 비용이 큰 만큼 분배·통합에만 사용.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15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환각을 막는 3가지 MCP 트릭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AI에게 "추측"이 아닌 "관측"을 시킨다 — 실제 DB·실제 UI·실제 문서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609344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3657600" cy="96012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 MCP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환각 차단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"users 테이블에 email_verified 컬럼 있어?"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Spring·FastAPI 에이전트가 코드 짜기 전에 실제 DB 스키마를 SELECT.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566928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15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669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 매핑 오류 ↓ · 마이그레이션 충돌 ↓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61688" y="1609344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155448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1554480"/>
            <a:ext cx="3657600" cy="960120"/>
          </a:xfrm>
          <a:prstGeom prst="roundRect">
            <a:avLst>
              <a:gd name="adj" fmla="val 1142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puppeteer MCP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53712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 환각 차단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99432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9432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Frontend가 자기가 만든 화면을 직접 본다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99432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99432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Frontend Agent가 React 코드 작성 후 puppeteer로 렌더링·스크린샷 → 자기 코드 자가검증·수정.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99432" y="566928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6366F1">
              <a:alpha val="15000"/>
            </a:srgbClr>
          </a:solidFill>
          <a:ln w="9525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9432" y="5669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레이아웃 깨짐 ↓ · 디자인 회귀 ↓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83880" y="1609344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47304" y="155448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47304" y="1554480"/>
            <a:ext cx="3657600" cy="96012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fetch MCP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375904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환각 차단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21624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21624" y="2971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LangChain 0.3 API가 갑자기 바뀌었을 때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21624" y="3749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21624" y="40233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 Agent가 LangChain 공식 문서를 직접 fetch → 최신 시그니처 확인 후 코드 작성.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421624" y="566928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21624" y="5669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존재하지 않는 함수 호출 ↓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차등 → LLM 비용 약 70% 절감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4개 작업을 단일 Opus로 vs 모델 차등으로 처리할 때의 가상 월비용 비교 ($)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0876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29016" y="1563624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92440" y="1508760"/>
            <a:ext cx="3657600" cy="457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7532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 비교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7532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$470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27532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Opus 사용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75320" y="3154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$72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27532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차등 (Ours)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75320" y="4160520"/>
            <a:ext cx="3291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75320" y="42976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~70% 절감*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275320" y="47548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호출 빈도 가중 추정. 실측은 PoC 후 보정.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" y="612648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비싼 모델은 "어렵고 가끔" 부르는 곳에만, 싼 모델은 "쉽고 자주" 부르는 곳에만.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배포 인프라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 + Vercel + Upstash Redis — 무료 플랜 조합으로도 데모 가능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39496" y="1655064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Railway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 + Spring + FastAPI + Crawler + pgvector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프로젝트에서 멀티 서비스 + DB + 크론을 한 번에 배포. 무료 크레딧으로 데모 충분.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1655064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60020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60020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Vercel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3712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+ Vite 프런트엔드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99432" y="25603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Edge CDN · 자동 HTTPS · git push 한 번으로 배포. 학생 데모 트래픽엔 무료.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1655064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160020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47304" y="160020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Upstash Redis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75904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What-If 캐시 · 레이트리밋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21624" y="25603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Serverless · per-request 과금. 트래픽 0이면 비용 0. Vercel과 같은 엣지에서 호출.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9496" y="5541264"/>
            <a:ext cx="11201400" cy="868680"/>
          </a:xfrm>
          <a:prstGeom prst="roundRect">
            <a:avLst>
              <a:gd name="adj" fmla="val 12632"/>
            </a:avLst>
          </a:prstGeom>
          <a:solidFill>
            <a:srgbClr val="000000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486400"/>
            <a:ext cx="11201400" cy="868680"/>
          </a:xfrm>
          <a:prstGeom prst="roundRect">
            <a:avLst>
              <a:gd name="adj" fmla="val 12632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48640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데모 단계 인프라 비용 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$0 / 월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(Railway 크레딧 + Vercel 무료 + Upstash 무료 티어 조합)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2286000"/>
            <a:ext cx="5486400" cy="548640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0292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프로젝트의 차별점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"AI를 어떻게 썼는가" 평가 기준에 정확히 답하는 5가지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1155680" cy="758952"/>
          </a:xfrm>
          <a:prstGeom prst="roundRect">
            <a:avLst>
              <a:gd name="adj" fmla="val 120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947672"/>
            <a:ext cx="777240" cy="521208"/>
          </a:xfrm>
          <a:prstGeom prst="roundRect">
            <a:avLst>
              <a:gd name="adj" fmla="val 1403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947672"/>
            <a:ext cx="777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190195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직접 짠 코드 &lt; 20%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2128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80%+는 7개 Claude 에이전트가 worktree에서 병렬 생성.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679192"/>
            <a:ext cx="11155680" cy="758952"/>
          </a:xfrm>
          <a:prstGeom prst="roundRect">
            <a:avLst>
              <a:gd name="adj" fmla="val 120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" y="2798064"/>
            <a:ext cx="777240" cy="521208"/>
          </a:xfrm>
          <a:prstGeom prst="roundRect">
            <a:avLst>
              <a:gd name="adj" fmla="val 1403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798064"/>
            <a:ext cx="777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75234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작성자 ≠ 리뷰어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063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코드는 Sonnet 4.6, 리뷰는 Haiku 4.5 — 자기편향 제거.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529584"/>
            <a:ext cx="11155680" cy="758952"/>
          </a:xfrm>
          <a:prstGeom prst="roundRect">
            <a:avLst>
              <a:gd name="adj" fmla="val 120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" y="3648456"/>
            <a:ext cx="777240" cy="521208"/>
          </a:xfrm>
          <a:prstGeom prst="roundRect">
            <a:avLst>
              <a:gd name="adj" fmla="val 1403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648456"/>
            <a:ext cx="777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36027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환각 차단 MCP 3종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913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postgres(스키마) · puppeteer(UI) · fetch(라이브러리 문서).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379976"/>
            <a:ext cx="11155680" cy="758952"/>
          </a:xfrm>
          <a:prstGeom prst="roundRect">
            <a:avLst>
              <a:gd name="adj" fmla="val 120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" y="4498848"/>
            <a:ext cx="777240" cy="521208"/>
          </a:xfrm>
          <a:prstGeom prst="roundRect">
            <a:avLst>
              <a:gd name="adj" fmla="val 14035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498848"/>
            <a:ext cx="777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00200" y="44531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차등으로 비용 ~70%↓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00200" y="4764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Opus·Sonnet·Haiku·GPT-4o-mini를 호출 빈도 × 난이도에 매칭.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5230368"/>
            <a:ext cx="11155680" cy="758952"/>
          </a:xfrm>
          <a:prstGeom prst="roundRect">
            <a:avLst>
              <a:gd name="adj" fmla="val 12048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5349240"/>
            <a:ext cx="777240" cy="521208"/>
          </a:xfrm>
          <a:prstGeom prst="roundRect">
            <a:avLst>
              <a:gd name="adj" fmla="val 1403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349240"/>
            <a:ext cx="777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00200" y="53035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재현 가능 · 오픈한 레시피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00200" y="56144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정의·MCP·Skill 구성을 README에 그대로 공개.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6080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Thank you · 질문 환영합니다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24712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PNU-Pathfinder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PNU-Pathfinder · AI를 어떻게 썼는가</dc:title>
  <dc:subject>PptxGenJS Presentation</dc:subject>
  <dc:creator>PptxGenJS</dc:creator>
  <cp:lastModifiedBy>PptxGenJS</cp:lastModifiedBy>
  <cp:revision>1</cp:revision>
  <dcterms:created xsi:type="dcterms:W3CDTF">2026-05-02T10:08:42Z</dcterms:created>
  <dcterms:modified xsi:type="dcterms:W3CDTF">2026-05-02T10:08:42Z</dcterms:modified>
</cp:coreProperties>
</file>