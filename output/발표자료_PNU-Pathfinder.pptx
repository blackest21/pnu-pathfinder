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0B981"/>
                </a:solidFill>
                <a:latin typeface="맑은 고딕"/>
              </a:rPr>
              <a:t>제7회 PNU 창의융합AI해커톤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맑은 고딕"/>
              </a:rPr>
              <a:t>PNU-Pathfinder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1F5F9"/>
                </a:solidFill>
                <a:latin typeface="맑은 고딕"/>
              </a:rPr>
              <a:t>부산대학교 학생 맞춤형 학업·진로 자기경영 AI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75569"/>
                </a:solidFill>
                <a:latin typeface="맑은 고딕"/>
              </a:rPr>
              <a:t>융합트랙  |  자유주제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B981"/>
                </a:solidFill>
                <a:latin typeface="맑은 고딕"/>
              </a:rPr>
              <a:t>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맑은 고딕"/>
              </a:rPr>
              <a:t>부산대 학생이 확인해야 하는 정보 출처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011680" cy="13716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학사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맑은 고딕"/>
              </a:rPr>
              <a:t>성적·수강이력·이수학점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103120"/>
            <a:ext cx="2011680" cy="13716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학과 홈페이지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97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맑은 고딕"/>
              </a:rPr>
              <a:t>교육과정·이수체계도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103120"/>
            <a:ext cx="2011680" cy="13716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비교과 시스템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697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맑은 고딕"/>
              </a:rPr>
              <a:t>프로그램·마일리지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2103120"/>
            <a:ext cx="2011680" cy="13716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취업지원 사이트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697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맑은 고딕"/>
              </a:rPr>
              <a:t>채용·진로 프로그램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2103120"/>
            <a:ext cx="2011680" cy="13716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외부 사이트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697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맑은 고딕"/>
              </a:rPr>
              <a:t>자격증·어학 일정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49039"/>
            <a:ext cx="11247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876"/>
                </a:solidFill>
                <a:latin typeface="맑은 고딕"/>
              </a:rPr>
              <a:t>결과: 학생이 스스로 모든 정보를 탐색·조합·해석해야 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80560"/>
            <a:ext cx="112471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66344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0F172A"/>
                </a:solidFill>
                <a:latin typeface="맑은 고딕"/>
              </a:rPr>
              <a:t>•  1·2학년: 무엇을 먼저 들어야 할지 모른다</a:t>
            </a:r>
          </a:p>
          <a:p>
            <a:pPr algn="l"/>
            <a:r>
              <a:rPr sz="1800">
                <a:solidFill>
                  <a:srgbClr val="0F172A"/>
                </a:solidFill>
                <a:latin typeface="맑은 고딕"/>
              </a:rPr>
              <a:t>•  3·4학년: 졸업요건 누락을 뒤늦게 발견한다</a:t>
            </a:r>
          </a:p>
          <a:p>
            <a:pPr algn="l"/>
            <a:r>
              <a:rPr sz="1800">
                <a:solidFill>
                  <a:srgbClr val="0F172A"/>
                </a:solidFill>
                <a:latin typeface="맑은 고딕"/>
              </a:rPr>
              <a:t>•  복수전공·편입·복학생: 교육과정 변화로 더 큰 혼란을 겪는다</a:t>
            </a:r>
          </a:p>
          <a:p>
            <a:pPr algn="l"/>
            <a:r>
              <a:rPr sz="1800">
                <a:solidFill>
                  <a:srgbClr val="0F172A"/>
                </a:solidFill>
                <a:latin typeface="맑은 고딕"/>
              </a:rPr>
              <a:t>•  모든 학생: 진로 목표에 맞는 실행 계획을 스스로 세워야 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솔루션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B981"/>
                </a:solidFill>
                <a:latin typeface="맑은 고딕"/>
              </a:rPr>
              <a:t>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맑은 고딕"/>
              </a:rPr>
              <a:t>PNU-Pathfinder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1F5F9"/>
                </a:solidFill>
                <a:latin typeface="맑은 고딕"/>
              </a:rPr>
              <a:t>분산된 학업·졸업·진로 정보를 통합하고,
학생 개인 상황에 맞는 실행 계획을 AI가 제안하는 웹 서비스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566160"/>
            <a:ext cx="11247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840480"/>
            <a:ext cx="210312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</a:rPr>
              <a:t>Smart Planner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06624" y="3840480"/>
            <a:ext cx="210312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06624" y="4023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</a:rPr>
              <a:t>Interactive Roadmap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840480"/>
            <a:ext cx="210312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56048" y="4023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</a:rPr>
              <a:t>AI 챗봇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5472" y="3840480"/>
            <a:ext cx="210312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4023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</a:rPr>
              <a:t>What-if 분석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54896" y="3840480"/>
            <a:ext cx="210312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54896" y="4023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</a:rPr>
              <a:t>이력서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0B981"/>
                </a:solidFill>
                <a:latin typeface="맑은 고딕"/>
              </a:rPr>
              <a:t>규칙 기반 추천 엔진 + 생성형 AI 설명 → 신뢰성 + 설명 가능성 동시 확보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</a:rPr>
              <a:t>핵심 기능 ①  Smart Planner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B981"/>
                </a:solidFill>
                <a:latin typeface="맑은 고딕"/>
              </a:rPr>
              <a:t>지능형 수강 시뮬레이터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09728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876"/>
                </a:solidFill>
                <a:latin typeface="맑은 고딕"/>
              </a:rPr>
              <a:t>졸업요건 충족률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맑은 고딕"/>
              </a:rPr>
              <a:t>영역별 잔여 학점 자동 계산
프로그레스 바 시각화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4864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109728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876"/>
                </a:solidFill>
                <a:latin typeface="맑은 고딕"/>
              </a:rPr>
              <a:t>수강 추천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맑은 고딕"/>
              </a:rPr>
              <a:t>선수과목·졸업필수 반영
다음 학기 최적 과목 제안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54864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109728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49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876"/>
                </a:solidFill>
                <a:latin typeface="맑은 고딕"/>
              </a:rPr>
              <a:t>재수강 우선순위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519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맑은 고딕"/>
              </a:rPr>
              <a:t>C+ 이하 과목 중
성적 상승 효과 큰 과목 추천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657600"/>
            <a:ext cx="54864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657600"/>
            <a:ext cx="109728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749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876"/>
                </a:solidFill>
                <a:latin typeface="맑은 고딕"/>
              </a:rPr>
              <a:t>학기 시뮬레이션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2519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맑은 고딕"/>
              </a:rPr>
              <a:t>졸업까지 몇 학기 남았는지
시나리오별 예측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</a:rPr>
              <a:t>핵심 기능 ②  AI 챗봇 &amp; What-if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B981"/>
                </a:solidFill>
                <a:latin typeface="맑은 고딕"/>
              </a:rPr>
              <a:t>생성형 AI 연동 기능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486400" cy="50292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맑은 고딕"/>
              </a:rPr>
              <a:t>AI 챗봇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"다음 학기 뭐 들어야 해?" → 개인 이수현황 기반 답변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"졸업 가능해?" → 충족률 + 부족 요건 설명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"재수강 뭐 해야 해?" → 우선순위 추천 + 이유 설명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OpenAI API 연동 — 자연어로 설명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규칙 기반 로직 + AI 설명 분리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54864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맑은 고딕"/>
              </a:rPr>
              <a:t>What-if 시나리오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"경영학과 복수전공 시 몇 학기 더 필요해?"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"전과 시 기존 이수 과목 인정 범위는?"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"복수전공 시 다음 학기 수강 계획은?"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저학년 진로·전공 의사결정 지원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AI 활용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B981"/>
                </a:solidFill>
                <a:latin typeface="맑은 고딕"/>
              </a:rPr>
              <a:t>AI UTILIZATION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486400" cy="50292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서비스 내 AI 활용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48463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0F172A"/>
                </a:solidFill>
                <a:latin typeface="맑은 고딕"/>
              </a:rPr>
              <a:t>•  맞춤형 수강·재수강 추천 생성</a:t>
            </a:r>
          </a:p>
          <a:p>
            <a:pPr algn="l"/>
            <a:r>
              <a:rPr sz="1700">
                <a:solidFill>
                  <a:srgbClr val="0F172A"/>
                </a:solidFill>
                <a:latin typeface="맑은 고딕"/>
              </a:rPr>
              <a:t>•  졸업요건·이수체계 자연어 질의응답</a:t>
            </a:r>
          </a:p>
          <a:p>
            <a:pPr algn="l"/>
            <a:r>
              <a:rPr sz="1700">
                <a:solidFill>
                  <a:srgbClr val="0F172A"/>
                </a:solidFill>
                <a:latin typeface="맑은 고딕"/>
              </a:rPr>
              <a:t>•  추천 결과 설명 가능한 언어로 해설</a:t>
            </a:r>
          </a:p>
          <a:p>
            <a:pPr algn="l"/>
            <a:r>
              <a:rPr sz="1700">
                <a:solidFill>
                  <a:srgbClr val="0F172A"/>
                </a:solidFill>
                <a:latin typeface="맑은 고딕"/>
              </a:rPr>
              <a:t>•  이력서·자기소개서 초안 자동 생성</a:t>
            </a:r>
          </a:p>
          <a:p>
            <a:pPr algn="l"/>
            <a:r>
              <a:rPr sz="1700">
                <a:solidFill>
                  <a:srgbClr val="0F172A"/>
                </a:solidFill>
                <a:latin typeface="맑은 고딕"/>
              </a:rPr>
              <a:t>•  커뮤니티 팁 요약 및 인사이트 제공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548640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맑은 고딕"/>
              </a:rPr>
              <a:t>개발 과정 AI 활용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48463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0F172A"/>
                </a:solidFill>
                <a:latin typeface="맑은 고딕"/>
              </a:rPr>
              <a:t>•  Claude — 문제 정의, 기획, 문서 작성</a:t>
            </a:r>
          </a:p>
          <a:p>
            <a:pPr algn="l"/>
            <a:r>
              <a:rPr sz="1700">
                <a:solidFill>
                  <a:srgbClr val="0F172A"/>
                </a:solidFill>
                <a:latin typeface="맑은 고딕"/>
              </a:rPr>
              <a:t>•  ChatGPT / Gemini — 아이디어 검토</a:t>
            </a:r>
          </a:p>
          <a:p>
            <a:pPr algn="l"/>
            <a:r>
              <a:rPr sz="1700">
                <a:solidFill>
                  <a:srgbClr val="0F172A"/>
                </a:solidFill>
                <a:latin typeface="맑은 고딕"/>
              </a:rPr>
              <a:t>•  Cursor — 코드 생성·디버깅·리팩토링</a:t>
            </a:r>
          </a:p>
          <a:p>
            <a:pPr algn="l"/>
            <a:r>
              <a:rPr sz="1700">
                <a:solidFill>
                  <a:srgbClr val="0F172A"/>
                </a:solidFill>
                <a:latin typeface="맑은 고딕"/>
              </a:rPr>
              <a:t>•  GitHub Copilot — 개발 보조</a:t>
            </a:r>
          </a:p>
          <a:p>
            <a:pPr algn="l"/>
            <a:r>
              <a:rPr sz="1700">
                <a:solidFill>
                  <a:srgbClr val="0F172A"/>
                </a:solidFill>
                <a:latin typeface="맑은 고딕"/>
              </a:rPr>
              <a:t>•  Midjourney — UI 시안 생성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</a:rPr>
              <a:t>AI Agent 협업 개발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B981"/>
                </a:solidFill>
                <a:latin typeface="맑은 고딕"/>
              </a:rPr>
              <a:t>Claude Multi-Agent  ×  MCP (Model Context Protocol)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1463040"/>
            <a:ext cx="3931920" cy="100584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15087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PM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9202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0B981"/>
                </a:solidFill>
                <a:latin typeface="맑은 고딕"/>
              </a:rPr>
              <a:t>기획 · 문서 · 코드리뷰
MCP: filesystem 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6060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75569"/>
                </a:solidFill>
                <a:latin typeface="맑은 고딕"/>
              </a:rPr>
              <a:t>태스크 분배  ↙                    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08960"/>
            <a:ext cx="512064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512064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13639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맑은 고딕"/>
              </a:rPr>
              <a:t>Backend Agent  (Claude Sonnet 4.6)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3931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FastAPI · DB · OpenAI 연동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9651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MCP: filesystem  /  postgres  /  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5371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맑은 고딕"/>
              </a:rPr>
              <a:t>  └ postgres: DB 스키마 직접 조회·검증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1091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맑은 고딕"/>
              </a:rPr>
              <a:t>Skills: claude-api  /  simplify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3108960"/>
            <a:ext cx="512064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108960"/>
            <a:ext cx="512064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313639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맑은 고딕"/>
              </a:rPr>
              <a:t>Frontend Agent  (Claude Sonnet 4.6)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63931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React UI · 컴포넌트 · API 연동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09651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MCP: filesystem  /  github  /  puppeteer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55371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맑은 고딕"/>
              </a:rPr>
              <a:t>  └ puppeteer: UI 자동 스크린샷 검증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501091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맑은 고딕"/>
              </a:rPr>
              <a:t>Skills: simplify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852160"/>
            <a:ext cx="11430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0B981"/>
                </a:solidFill>
                <a:latin typeface="맑은 고딕"/>
              </a:rPr>
              <a:t>worktree 격리로 충돌 없는 병렬 작업  ·  모든 작업이 git commit으로 자동 추적  ·  PM Agent가 PR 자동 리뷰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B981"/>
                </a:solidFill>
                <a:latin typeface="맑은 고딕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457200"/>
            <a:ext cx="11430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맑은 고딕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맑은 고딕"/>
              </a:rPr>
              <a:t>React 19 + Vite + TypeScript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0"/>
            <a:ext cx="11430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맑은 고딕"/>
              </a:rPr>
              <a:t>Backend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017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맑은 고딕"/>
              </a:rPr>
              <a:t>FastAPI (Python) + JWT Auth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394960"/>
            <a:ext cx="11430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맑은 고딕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5486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맑은 고딕"/>
              </a:rPr>
              <a:t>PostgreSQL + SQLAlchemy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7863840"/>
            <a:ext cx="11430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7955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맑은 고딕"/>
              </a:rPr>
              <a:t>AI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7955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맑은 고딕"/>
              </a:rPr>
              <a:t>OpenAI API (GPT-4o)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75569"/>
                </a:solidFill>
                <a:latin typeface="맑은 고딕"/>
              </a:rPr>
              <a:t>배포: Vercel (FE)  +  VPS / Docker (BE)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MVP 범위 &amp; 개발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B981"/>
                </a:solidFill>
                <a:latin typeface="맑은 고딕"/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876"/>
                </a:solidFill>
                <a:latin typeface="맑은 고딕"/>
              </a:rPr>
              <a:t>우선 구현 기능 (MVP)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0F172A"/>
                </a:solidFill>
                <a:latin typeface="맑은 고딕"/>
              </a:rPr>
              <a:t>  ✅ 학생 회원가입 / 로그인 (완성)</a:t>
            </a:r>
          </a:p>
          <a:p>
            <a:pPr algn="l"/>
            <a:r>
              <a:rPr sz="1600">
                <a:solidFill>
                  <a:srgbClr val="0F172A"/>
                </a:solidFill>
                <a:latin typeface="맑은 고딕"/>
              </a:rPr>
              <a:t>  ✅ 학과별 졸업요건 DB + 관리자 CRUD (완성)</a:t>
            </a:r>
          </a:p>
          <a:p>
            <a:pPr algn="l"/>
            <a:r>
              <a:rPr sz="1600">
                <a:solidFill>
                  <a:srgbClr val="0F172A"/>
                </a:solidFill>
                <a:latin typeface="맑은 고딕"/>
              </a:rPr>
              <a:t>  🔄 수강 이력 입력 및 조회</a:t>
            </a:r>
          </a:p>
          <a:p>
            <a:pPr algn="l"/>
            <a:r>
              <a:rPr sz="1600">
                <a:solidFill>
                  <a:srgbClr val="0F172A"/>
                </a:solidFill>
                <a:latin typeface="맑은 고딕"/>
              </a:rPr>
              <a:t>  🔄 졸업요건 충족률 계산 대시보드</a:t>
            </a:r>
          </a:p>
          <a:p>
            <a:pPr algn="l"/>
            <a:r>
              <a:rPr sz="1600">
                <a:solidFill>
                  <a:srgbClr val="0F172A"/>
                </a:solidFill>
                <a:latin typeface="맑은 고딕"/>
              </a:rPr>
              <a:t>  🔄 AI 챗봇 (OpenAI 연동)</a:t>
            </a:r>
          </a:p>
          <a:p>
            <a:pPr algn="l"/>
            <a:r>
              <a:rPr sz="1600">
                <a:solidFill>
                  <a:srgbClr val="0F172A"/>
                </a:solidFill>
                <a:latin typeface="맑은 고딕"/>
              </a:rPr>
              <a:t>  🔄 다음 학기 수강 추천 로직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876"/>
                </a:solidFill>
                <a:latin typeface="맑은 고딕"/>
              </a:rPr>
              <a:t>개발 일정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2011680" cy="4572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5월 4~11일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예선 서류 제출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423160"/>
            <a:ext cx="2011680" cy="4572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423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5월 19일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423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예선 결과 발표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017520"/>
            <a:ext cx="2011680" cy="4572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6월 1~4주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017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수강이력 + AI 연동 구현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611880"/>
            <a:ext cx="2011680" cy="4572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611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7월 1~2주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611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What-if + 이력서 기능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206240"/>
            <a:ext cx="2011680" cy="4572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06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7월 3~4주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4206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중간보고회 준비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800600"/>
            <a:ext cx="2011680" cy="4572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800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8월 1~4주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4800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최종 마무리 + 배포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5394960"/>
            <a:ext cx="2011680" cy="4572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394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8월 28일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5394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최종 발표 (농심호텔)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기대효과 &amp; 차별성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B981"/>
                </a:solidFill>
                <a:latin typeface="맑은 고딕"/>
              </a:rPr>
              <a:t>IMPACT &amp; DIFFERENTIATION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맑은 고딕"/>
              </a:rPr>
              <a:t>차별성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학업·졸업·진로·이력서를 하나의 플랫폼에서 통합 관리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학생별 이수 현황 기반 맞춤형 수강 로드맵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정형 데이터 분석 + 생성형 AI 설명 결합 (신뢰성 확보)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정적 PDF가 아닌 인터랙티브 로드맵 UI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복수전공·전과 시나리오 분석 지원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맑은 고딕"/>
              </a:rPr>
              <a:t>기대효과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수강 계획 수립 시간 단축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졸업요건 누락 방지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진로 준비 체계화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편입·복학생 적응 지원</a:t>
            </a:r>
          </a:p>
          <a:p>
            <a:pPr algn="l"/>
            <a:r>
              <a:rPr sz="1600">
                <a:solidFill>
                  <a:srgbClr val="FFFFFF"/>
                </a:solidFill>
                <a:latin typeface="맑은 고딕"/>
              </a:rPr>
              <a:t>•  취업 자료 정리 부담 완화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팀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B981"/>
                </a:solidFill>
                <a:latin typeface="맑은 고딕"/>
              </a:rPr>
              <a:t>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75569"/>
                </a:solidFill>
                <a:latin typeface="맑은 고딕"/>
              </a:rPr>
              <a:t>SW전공자 + 비전공자 각 1명 이상 포함  |  팀원: [추가 필요]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011680"/>
            <a:ext cx="2743200" cy="54864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PM / 기획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06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0B981"/>
                </a:solidFill>
                <a:latin typeface="맑은 고딕"/>
              </a:rPr>
              <a:t>SW전공자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17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프로젝트 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204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문서·발표자료 작성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23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AI 도구 총괄 활용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526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GitHub 관리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01168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2011680"/>
            <a:ext cx="2743200" cy="54864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2057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606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0B981"/>
                </a:solidFill>
                <a:latin typeface="맑은 고딕"/>
              </a:rPr>
              <a:t>SW전공자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017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FastAPI 서버 개발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5204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DB 설계 및 구현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023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추천 로직 구현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526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OpenAI API 연동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01168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011680"/>
            <a:ext cx="2743200" cy="54864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057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606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0B981"/>
                </a:solidFill>
                <a:latin typeface="맑은 고딕"/>
              </a:rPr>
              <a:t>SW전공자 또는 비전공자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017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React UI 개발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5204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화면 설계·구현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023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API 연동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526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UX 개선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201168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0" y="2011680"/>
            <a:ext cx="2743200" cy="54864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2057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기획·데이터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606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0B981"/>
                </a:solidFill>
                <a:latin typeface="맑은 고딕"/>
              </a:rPr>
              <a:t>비전공자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30175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사용자 요구사항 도출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35204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데이터 정리 (교육과정)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4023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시연 기획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4526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• 발표 보조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맑은 고딕"/>
              </a:rPr>
              <a:t>PNU-Pathfinder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1F5F9"/>
                </a:solidFill>
                <a:latin typeface="맑은 고딕"/>
              </a:rPr>
              <a:t>"지금 내 상황에서 무엇을 해야 하는가"
를 AI가 구체적으로 제안합니다.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맑은 고딕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